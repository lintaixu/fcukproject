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26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6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逢甲大學  ·  資訊工程學系  ·  專題研究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K線型態辨識系統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ADCFC"/>
                </a:solidFill>
                <a:latin typeface="Calibri"/>
              </a:rPr>
              <a:t>進度報告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137160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基於 Autoencoder + One-Class SVM 的台股K線型態分析與漲跌預測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專題生：郭家齊  ·  呂偉湘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指導老師：李俊宏 教授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5806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4A3B8"/>
                </a:solidFill>
                <a:latin typeface="Calibri"/>
              </a:rPr>
              <a:t>2026.04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本次進度目標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Current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453896"/>
            <a:ext cx="5577840" cy="219456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184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確定訓練出的K線型態是有效的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驗證 Autoencoder 萃取的潛在空間特徵可區分看漲／看跌型態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453896"/>
            <a:ext cx="5577840" cy="219456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60020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6184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測試每個型態的預測準確度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引入四大評估指標：Precision、Recall、Accuracy、F1-Score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3922776"/>
            <a:ext cx="5577840" cy="219456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873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改善K線相似度比對方式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採用歐氏距離（Euclidean Distance）取代餘弦相似度，提升匹配精準度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3922776"/>
            <a:ext cx="5577840" cy="219456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8862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406908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0873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完成Grid Search最佳參數搜尋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634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跨 54 組參數組合，找出最佳 HOLD_DAYS、RISE_THRESH、DIST_THRESH、MIN_FREQ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系統架構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92024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①  資料收集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yfinance 下載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TW50 台灣50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54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50檔股票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2015–2025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2834640"/>
            <a:ext cx="201168" cy="45720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288" y="2743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AABB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41732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1417320"/>
            <a:ext cx="1920240" cy="5029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②  特徵萃取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057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1日7特徵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6060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2日10特徵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154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3日12特徵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703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（K線形狀）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2834640"/>
            <a:ext cx="201168" cy="45720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2743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AABB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141732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00600" y="1417320"/>
            <a:ext cx="192024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③  Autoencoder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057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降維至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6060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4維潛在空間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154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PyTorch MSELoss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703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60 Epochs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8272" y="2834640"/>
            <a:ext cx="201168" cy="45720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2743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AABB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5159" y="141732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95159" y="1417320"/>
            <a:ext cx="192024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79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④  One-Class SVM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599" y="2057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RBF核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599" y="26060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nu=0.1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599" y="3154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看漲／看跌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3703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種子訓練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42832" y="2834640"/>
            <a:ext cx="201168" cy="45720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87967" y="2743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AABB"/>
                </a:solidFill>
                <a:latin typeface="Calibri"/>
              </a:rPr>
              <a:t>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19" y="141732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89719" y="1417320"/>
            <a:ext cx="1920240" cy="5029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⑤  評估驗證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59" y="2057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Precision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9" y="26060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Recall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59" y="3154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Accuracy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9" y="3703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F1-Score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489204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訓練集：2016–2024（108,215 筆）  ·  測試集：2025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24712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四大評估指標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Evaluation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" y="1453896"/>
            <a:ext cx="2743200" cy="411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743200" cy="5943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精確率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246888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TP ÷ (TP + FP)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被OCSVM預測「看漲」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且真實報酬 &gt; 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667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的比例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74136" y="1453896"/>
            <a:ext cx="2743200" cy="411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41732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417320"/>
            <a:ext cx="2743200" cy="5943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4630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1783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召回率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148840"/>
            <a:ext cx="246888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1488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TP ÷ (TP + FN)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真實看漲K線中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被正確識別出來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6667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的比例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216" y="1453896"/>
            <a:ext cx="2743200" cy="411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41732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417320"/>
            <a:ext cx="2743200" cy="5943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4630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783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準確率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148840"/>
            <a:ext cx="246888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1488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(TP+TN) ÷ 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所有預測中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正確預測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6667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的比例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26296" y="1453896"/>
            <a:ext cx="2743200" cy="411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9720" y="141732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89720" y="1417320"/>
            <a:ext cx="2743200" cy="5943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14630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1783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F1分數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2148840"/>
            <a:ext cx="246888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21488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2 × P × R ÷ (P+R)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Precision 與 Recall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的調和平均數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6667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（平衡指標）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8064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混淆矩陣對照：  TP = 真陽性　TN = 真陰性　FP = 假陽性　FN = 假陰性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4712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參數調整對比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Parameter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12471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參數名稱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中文名稱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9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原始值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目前值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調整原因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2880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019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HOLD_DAYS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9019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持有天數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19019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3E3E"/>
                </a:solidFill>
                <a:latin typeface="Calibri"/>
              </a:rPr>
              <a:t>3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19019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A169"/>
                </a:solidFill>
                <a:latin typeface="Calibri"/>
              </a:rPr>
              <a:t>5 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019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5日特徵視窗一致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487168"/>
            <a:ext cx="11247120" cy="6400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60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RISE_THRESH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5603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看漲種子門檻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25603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3E3E"/>
                </a:solidFill>
                <a:latin typeface="Calibri"/>
              </a:rPr>
              <a:t>3.00%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25603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A169"/>
                </a:solidFill>
                <a:latin typeface="Calibri"/>
              </a:rPr>
              <a:t>5.00%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60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篩選更強的看漲型態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145536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2186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FALL_THRESH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2186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看跌種子門檻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321868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3E3E"/>
                </a:solidFill>
                <a:latin typeface="Calibri"/>
              </a:rPr>
              <a:t>-3.00%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321868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A169"/>
                </a:solidFill>
                <a:latin typeface="Calibri"/>
              </a:rPr>
              <a:t>-5.00%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186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篩選更強的看跌型態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803904"/>
            <a:ext cx="11247120" cy="6400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87705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DIST_THRESH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387705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歐氏距離門檻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9" y="387705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3E3E"/>
                </a:solidFill>
                <a:latin typeface="Calibri"/>
              </a:rPr>
              <a:t>2.5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387705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A169"/>
                </a:solidFill>
                <a:latin typeface="Calibri"/>
              </a:rPr>
              <a:t>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87705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放寬相似度範圍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462272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53542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MIN_FREQ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5354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最低出現頻率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453542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3E3E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59" y="453542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A169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535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排除低頻雜訊型態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120640"/>
            <a:ext cx="11247120" cy="64008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1937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OCSVM_NU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51937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邊界寬鬆程度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79" y="519379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3E3E"/>
                </a:solidFill>
                <a:latin typeface="Calibri"/>
              </a:rPr>
              <a:t>0.3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59" y="519379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A169"/>
                </a:solidFill>
                <a:latin typeface="Calibri"/>
              </a:rPr>
              <a:t>0.1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1937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收緊異常偵測邊界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4712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Grid Search 最佳參數結果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54 組參數組合全面測試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408176"/>
            <a:ext cx="5120640" cy="484632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1206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搜尋空間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475488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2011680" cy="5943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HOLD_DAYS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03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3, 5, 10 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80360"/>
            <a:ext cx="2011680" cy="5943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7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RISE_THRESH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92607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2%, 3%, 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03320"/>
            <a:ext cx="2011680" cy="5943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4903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DIST_THRESH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74903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2.0, 2.5, 3.0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526280"/>
            <a:ext cx="2011680" cy="5943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MIN_FREQ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572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3, 5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32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總計：3 × 3 × 3 × 2 = 54 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0176" y="1408176"/>
            <a:ext cx="5760720" cy="484632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371600"/>
            <a:ext cx="57607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最佳組合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920240"/>
            <a:ext cx="53949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057400"/>
            <a:ext cx="1828800" cy="5486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HOLD_DAYS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A169"/>
                </a:solidFill>
                <a:latin typeface="Calibri"/>
              </a:rPr>
              <a:t>5 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743200"/>
            <a:ext cx="1828800" cy="5486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2788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RISE_THRESH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2788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A169"/>
                </a:solidFill>
                <a:latin typeface="Calibri"/>
              </a:rPr>
              <a:t>5.0%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429000"/>
            <a:ext cx="1828800" cy="5486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474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DIST_THRESH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A169"/>
                </a:solidFill>
                <a:latin typeface="Calibri"/>
              </a:rPr>
              <a:t>3.0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114800"/>
            <a:ext cx="1828800" cy="5486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160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MIN_FREQ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A169"/>
                </a:solidFill>
                <a:latin typeface="Calibri"/>
              </a:rPr>
              <a:t>5 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4983480"/>
            <a:ext cx="5303520" cy="10058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4983480"/>
            <a:ext cx="73152" cy="10058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074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看漲 Precision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0109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A169"/>
                </a:solidFill>
                <a:latin typeface="Calibri"/>
              </a:rPr>
              <a:t>33.40%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468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（最高 Precision 組合）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4712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OCSVM NU 收緊測試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逐步收緊 nu 觀察指標變化（nu = 0.1 → 0.05 → 0.01）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看漲結果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653796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預測正例%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03120"/>
            <a:ext cx="65379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761"/>
                </a:solidFill>
                <a:latin typeface="Calibri"/>
              </a:rPr>
              <a:t>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762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1762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8A169"/>
                </a:solidFill>
                <a:latin typeface="Calibri"/>
              </a:rPr>
              <a:t>25.98%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1762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92.41%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1762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40.55%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97479"/>
            <a:ext cx="6537960" cy="576072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77063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761"/>
                </a:solidFill>
                <a:latin typeface="Calibri"/>
              </a:rPr>
              <a:t>0.05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770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97.3%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770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8A169"/>
                </a:solidFill>
                <a:latin typeface="Calibri"/>
              </a:rPr>
              <a:t>25.86%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770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96.69%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770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40.81%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91839"/>
            <a:ext cx="65379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364991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761"/>
                </a:solidFill>
                <a:latin typeface="Calibri"/>
              </a:rPr>
              <a:t>0.01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99.7%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8A169"/>
                </a:solidFill>
                <a:latin typeface="Calibri"/>
              </a:rPr>
              <a:t>25.97%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99.46%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41.18%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看跌結果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691640"/>
            <a:ext cx="653796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預測正例%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103120"/>
            <a:ext cx="65379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17627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761"/>
                </a:solidFill>
                <a:latin typeface="Calibri"/>
              </a:rPr>
              <a:t>0.1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21762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93.9%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1762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3E3E"/>
                </a:solidFill>
                <a:latin typeface="Calibri"/>
              </a:rPr>
              <a:t>21.68%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21762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92.81%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21762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35.15%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2697479"/>
            <a:ext cx="6537960" cy="576072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77063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761"/>
                </a:solidFill>
                <a:latin typeface="Calibri"/>
              </a:rPr>
              <a:t>0.05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770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97.5%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2770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3E3E"/>
                </a:solidFill>
                <a:latin typeface="Calibri"/>
              </a:rPr>
              <a:t>21.75%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2770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96.75%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2770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35.52%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291839"/>
            <a:ext cx="65379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364991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761"/>
                </a:solidFill>
                <a:latin typeface="Calibri"/>
              </a:rPr>
              <a:t>0.01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99.4%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3E3E"/>
                </a:solidFill>
                <a:latin typeface="Calibri"/>
              </a:rPr>
              <a:t>21.91%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412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99.31%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7572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35.89%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4023360"/>
            <a:ext cx="11183112" cy="1645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4023360"/>
            <a:ext cx="91440" cy="1645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結論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4400"/>
                </a:solidFill>
                <a:latin typeface="Calibri"/>
              </a:rPr>
              <a:t>• nu 從 0.1 收緊至 0.01，Precision 幾乎沒有變化（約 25%～26%）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910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4400"/>
                </a:solidFill>
                <a:latin typeface="Calibri"/>
              </a:rPr>
              <a:t>• nu 越小反而造成 OCSVM 預測「幾乎所有K線為正例」（99.7%），問題非邊界寬緊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2943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4400"/>
                </a:solidFill>
                <a:latin typeface="Calibri"/>
              </a:rPr>
              <a:t>• 根本原因：純K線形狀特徵在潛在空間中，看漲／看跌型態高度重疊 → 需加入技術指標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24712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混淆矩陣結果分析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1日 7特徵 | HOLD_DAYS=5, RISE_THRESH=5%, OCSVM_NU=0.1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408176"/>
            <a:ext cx="5577840" cy="50292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577840" cy="457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看漲（Bull）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938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預測正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38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預測負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實際正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實際負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286000"/>
            <a:ext cx="1554480" cy="82296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304288"/>
            <a:ext cx="1554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A169"/>
                </a:solidFill>
                <a:latin typeface="Calibri"/>
              </a:rPr>
              <a:t>TP
26,019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286000"/>
            <a:ext cx="1554480" cy="8229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304288"/>
            <a:ext cx="1554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3E3E"/>
                </a:solidFill>
                <a:latin typeface="Calibri"/>
              </a:rPr>
              <a:t>FN
2,137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154680"/>
            <a:ext cx="1554480" cy="8229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3172968"/>
            <a:ext cx="1554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3E3E"/>
                </a:solidFill>
                <a:latin typeface="Calibri"/>
              </a:rPr>
              <a:t>FP
74,141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154680"/>
            <a:ext cx="1554480" cy="82296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172968"/>
            <a:ext cx="1554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A169"/>
                </a:solidFill>
                <a:latin typeface="Calibri"/>
              </a:rPr>
              <a:t>TN
5,918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160520"/>
            <a:ext cx="1234440" cy="10972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761"/>
                </a:solidFill>
                <a:latin typeface="Calibri"/>
              </a:rPr>
              <a:t>Precision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A169"/>
                </a:solidFill>
                <a:latin typeface="Calibri"/>
              </a:rPr>
              <a:t>25.98%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4160520"/>
            <a:ext cx="1234440" cy="1097280"/>
          </a:xfrm>
          <a:prstGeom prst="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761"/>
                </a:solidFill>
                <a:latin typeface="Calibri"/>
              </a:rPr>
              <a:t>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572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A169"/>
                </a:solidFill>
                <a:latin typeface="Calibri"/>
              </a:rPr>
              <a:t>92.41%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4160520"/>
            <a:ext cx="1234440" cy="10972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39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761"/>
                </a:solidFill>
                <a:latin typeface="Calibri"/>
              </a:rPr>
              <a:t>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39" y="4572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A169"/>
                </a:solidFill>
                <a:latin typeface="Calibri"/>
              </a:rPr>
              <a:t>29.51%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160520"/>
            <a:ext cx="1234440" cy="1097280"/>
          </a:xfrm>
          <a:prstGeom prst="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761"/>
                </a:solidFill>
                <a:latin typeface="Calibri"/>
              </a:rPr>
              <a:t>F1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572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A169"/>
                </a:solidFill>
                <a:latin typeface="Calibri"/>
              </a:rPr>
              <a:t>40.55%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45936" y="1408176"/>
            <a:ext cx="5577840" cy="50292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137160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1371600"/>
            <a:ext cx="5577840" cy="4572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看跌（Bear）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1938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預測正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1938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預測負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33172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實際正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15468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實際負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2286000"/>
            <a:ext cx="1554480" cy="82296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2304288"/>
            <a:ext cx="1554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A169"/>
                </a:solidFill>
                <a:latin typeface="Calibri"/>
              </a:rPr>
              <a:t>TP
22,023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2286000"/>
            <a:ext cx="1554480" cy="8229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2304288"/>
            <a:ext cx="1554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3E3E"/>
                </a:solidFill>
                <a:latin typeface="Calibri"/>
              </a:rPr>
              <a:t>FN
1,706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3154680"/>
            <a:ext cx="1554480" cy="8229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3172968"/>
            <a:ext cx="1554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3E3E"/>
                </a:solidFill>
                <a:latin typeface="Calibri"/>
              </a:rPr>
              <a:t>FP
79,539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3154680"/>
            <a:ext cx="1554480" cy="82296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3172968"/>
            <a:ext cx="1554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A169"/>
                </a:solidFill>
                <a:latin typeface="Calibri"/>
              </a:rPr>
              <a:t>TN
4,947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4160520"/>
            <a:ext cx="1234440" cy="10972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761"/>
                </a:solidFill>
                <a:latin typeface="Calibri"/>
              </a:rPr>
              <a:t>Precision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572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8800"/>
                </a:solidFill>
                <a:latin typeface="Calibri"/>
              </a:rPr>
              <a:t>21.68%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4160520"/>
            <a:ext cx="1234440" cy="1097280"/>
          </a:xfrm>
          <a:prstGeom prst="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1812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761"/>
                </a:solidFill>
                <a:latin typeface="Calibri"/>
              </a:rPr>
              <a:t>Recall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4572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8800"/>
                </a:solidFill>
                <a:latin typeface="Calibri"/>
              </a:rPr>
              <a:t>92.81%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98280" y="4160520"/>
            <a:ext cx="1234440" cy="10972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761"/>
                </a:solidFill>
                <a:latin typeface="Calibri"/>
              </a:rPr>
              <a:t>Accuracy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4572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8800"/>
                </a:solidFill>
                <a:latin typeface="Calibri"/>
              </a:rPr>
              <a:t>24.92%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24160" y="4160520"/>
            <a:ext cx="1234440" cy="1097280"/>
          </a:xfrm>
          <a:prstGeom prst="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69880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761"/>
                </a:solidFill>
                <a:latin typeface="Calibri"/>
              </a:rPr>
              <a:t>F1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4572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8800"/>
                </a:solidFill>
                <a:latin typeface="Calibri"/>
              </a:rPr>
              <a:t>35.15%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24712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2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結論
與
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  <a:latin typeface="Calibri"/>
              </a:rPr>
              <a:t>Conclusion &amp;
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486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DCFC"/>
                </a:solidFill>
                <a:latin typeface="Calibri"/>
              </a:rPr>
              <a:t>本次研究成果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05840"/>
            <a:ext cx="7132320" cy="36576"/>
          </a:xfrm>
          <a:prstGeom prst="rect">
            <a:avLst/>
          </a:prstGeom>
          <a:solidFill>
            <a:srgbClr val="3A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365760" cy="4114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1615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完成 54 組 Grid Search，最佳 Precision：33.40%（看漲）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65760" cy="4114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8105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OCSVM NU 收緊測試確認：特徵是瓶頸，非邊界問題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377440"/>
            <a:ext cx="365760" cy="4114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0487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引入四大評估指標 + 混淆矩陣視覺化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971800"/>
            <a:ext cx="365760" cy="4114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9718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99923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所有K線相似條件改為「每根都必須」而非平均值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3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DCFC"/>
                </a:solidFill>
                <a:latin typeface="Calibri"/>
              </a:rPr>
              <a:t>接下來規劃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206240"/>
            <a:ext cx="7132320" cy="36576"/>
          </a:xfrm>
          <a:prstGeom prst="rect">
            <a:avLst/>
          </a:prstGeom>
          <a:solidFill>
            <a:srgbClr val="3A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4389120"/>
            <a:ext cx="3657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3891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41655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加入技術指標：RSI、MA位置、布林通道（提升 Precision）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983480"/>
            <a:ext cx="3657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9834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0109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擴充特徵工程：量價關係、市場強弱度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5577840"/>
            <a:ext cx="3657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5577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60527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實測 2025 年資料，驗證泛化能力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