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0000"/>
                </a:solidFill>
              </a:defRPr>
            </a:pPr>
            <a:r>
              <a:t>目前進度及接下來規劃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23232"/>
                </a:solidFill>
              </a:defRPr>
            </a:pPr>
            <a:r>
              <a:t>專題生:郭家齊 呂偉湘</a:t>
            </a: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指導老師:李俊宏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04320" y="5943600"/>
            <a:ext cx="137160" cy="914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73152" cy="914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0000"/>
                </a:solidFill>
              </a:defRPr>
            </a:pPr>
            <a:r>
              <a:t>這禮拜進度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</a:rPr>
              <a:t>Chart GCN 模型實作: </a:t>
            </a:r>
            <a:r>
              <a:rPr sz="1600">
                <a:solidFill>
                  <a:srgbClr val="323232"/>
                </a:solidFill>
              </a:rPr>
              <a:t>對齊論文 Li et al., KBS 2022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</a:rPr>
              <a:t>資料來源: </a:t>
            </a:r>
            <a:r>
              <a:rPr sz="1600">
                <a:solidFill>
                  <a:srgbClr val="323232"/>
                </a:solidFill>
              </a:rPr>
              <a:t>台股前 100 大 (實際取得 95 檔)，2018-2024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</a:rPr>
              <a:t>Pipeline: </a:t>
            </a:r>
            <a:r>
              <a:rPr sz="1600">
                <a:solidFill>
                  <a:srgbClr val="323232"/>
                </a:solidFill>
              </a:rPr>
              <a:t>PIP 提取 → Visibility Graph → 子圖選取 → CNN + Self-Attention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</a:rPr>
              <a:t>特徵工程: </a:t>
            </a:r>
            <a:r>
              <a:rPr sz="1600">
                <a:solidFill>
                  <a:srgbClr val="323232"/>
                </a:solidFill>
              </a:rPr>
              <a:t>9 維技術指標 (SMA, EMA, RSI, MACD, Bollinger, OBV, ATR, Williams %R, Stochastic)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</a:rPr>
              <a:t>模型改進: </a:t>
            </a:r>
            <a:r>
              <a:rPr sz="1600">
                <a:solidFill>
                  <a:srgbClr val="323232"/>
                </a:solidFill>
              </a:rPr>
              <a:t>加入 BatchNorm、Residual Attention、macro F1 選模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</a:rPr>
              <a:t>Grid Search: </a:t>
            </a:r>
            <a:r>
              <a:rPr sz="1600">
                <a:solidFill>
                  <a:srgbClr val="323232"/>
                </a:solidFill>
              </a:rPr>
              <a:t>兩階段搜尋 32 組超參數，最佳: window=130, m_pips=80, N=15, g=5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</a:rPr>
              <a:t>訓練設定: </a:t>
            </a:r>
            <a:r>
              <a:rPr sz="1600">
                <a:solidFill>
                  <a:srgbClr val="323232"/>
                </a:solidFill>
              </a:rPr>
              <a:t>window=130, m_pips=80, N=15, g=5, epochs=30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</a:rPr>
              <a:t>回測驗證: </a:t>
            </a:r>
            <a:r>
              <a:rPr sz="1600">
                <a:solidFill>
                  <a:srgbClr val="323232"/>
                </a:solidFill>
              </a:rPr>
              <a:t>2024 年測試期，95 檔股票交易模擬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6459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Consolas"/>
              </a:defRPr>
            </a:pPr>
            <a:r>
              <a:t>Raw Data 台股 OHLCV</a:t>
            </a:r>
            <a:br/>
            <a:r>
              <a:t>    ↓</a:t>
            </a:r>
            <a:br/>
            <a:r>
              <a:t>PIP Algorithm 關鍵轉折點</a:t>
            </a:r>
            <a:br/>
            <a:r>
              <a:t>    ↓</a:t>
            </a:r>
            <a:br/>
            <a:r>
              <a:t>Natural Visibility Graph</a:t>
            </a:r>
            <a:br/>
            <a:r>
              <a:t>    ↓</a:t>
            </a:r>
            <a:br/>
            <a:r>
              <a:t>Subgraph Extraction 子圖選取</a:t>
            </a:r>
            <a:br/>
            <a:r>
              <a:t>    ↓</a:t>
            </a:r>
            <a:br/>
            <a:r>
              <a:t>Feature Matrix (N×g×F)</a:t>
            </a:r>
            <a:br/>
            <a:r>
              <a:t>    ↓</a:t>
            </a:r>
            <a:br/>
            <a:r>
              <a:t>CNN Layers (Conv1→Conv2→Conv3)</a:t>
            </a:r>
            <a:br/>
            <a:r>
              <a:t>    ↓</a:t>
            </a:r>
            <a:br/>
            <a:r>
              <a:t>FC Layers + Self-Attention</a:t>
            </a:r>
            <a:br/>
            <a:r>
              <a:t>    ↓</a:t>
            </a:r>
            <a:br/>
            <a:r>
              <a:t>Prediction (漲/跌)</a:t>
            </a:r>
            <a:br/>
            <a:r>
              <a:t>    ↓</a:t>
            </a:r>
            <a:br/>
            <a:r>
              <a:t>Backtest 回測驗證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0" y="1645920"/>
            <a:ext cx="73152" cy="4572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73152" cy="914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實驗結果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400" b="1">
                <a:solidFill>
                  <a:srgbClr val="000000"/>
                </a:solidFill>
              </a:defRPr>
            </a:pPr>
            <a:r>
              <a:t>Grid Search 最佳參數: window=130, m_pips=80, N=15, g=5</a:t>
            </a:r>
          </a:p>
          <a:p>
            <a:pPr algn="ctr">
              <a:spcAft>
                <a:spcPts val="400"/>
              </a:spcAft>
              <a:defRPr sz="2400" b="1">
                <a:solidFill>
                  <a:srgbClr val="000000"/>
                </a:solidFill>
              </a:defRPr>
            </a:pPr>
            <a:r>
              <a:t>Test Accuracy: 51.49%    Test F1 macro: 0.4887</a:t>
            </a:r>
          </a:p>
          <a:p>
            <a:pPr algn="ctr">
              <a:spcAft>
                <a:spcPts val="400"/>
              </a:spcAft>
              <a:defRPr sz="2400" b="1">
                <a:solidFill>
                  <a:srgbClr val="000000"/>
                </a:solidFill>
              </a:defRPr>
            </a:pPr>
            <a:r>
              <a:t>Test F1 (漲): 0.3729    Test F1 (跌): 0.6045</a:t>
            </a:r>
          </a:p>
          <a:p>
            <a:pPr algn="ctr">
              <a:spcAft>
                <a:spcPts val="400"/>
              </a:spcAft>
              <a:defRPr sz="2400" b="1">
                <a:solidFill>
                  <a:srgbClr val="000000"/>
                </a:solidFill>
              </a:defRPr>
            </a:pPr>
            <a:r>
              <a:t>策略報酬: -5.82%    Benchmark: -3.87%    超額報酬: -1.94%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4747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323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數值</a:t>
                      </a:r>
                    </a:p>
                  </a:txBody>
                  <a:tcPr>
                    <a:solidFill>
                      <a:srgbClr val="323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3232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對應論文</a:t>
                      </a:r>
                    </a:p>
                  </a:txBody>
                  <a:tcPr>
                    <a:solidFill>
                      <a:srgbClr val="32323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51.49%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整體分類準確率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Table 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Precision (漲)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45.03%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預測漲的精確率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Table 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Recall (漲)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31.82%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實際漲被捕捉的比例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Table 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F1 (漲)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0.3729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漲類的 F1 分數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Table 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F1 (跌)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0.6045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跌類的 F1 分數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Table 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F1 Macro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0.4887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兩類 F1 的平均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Section 4.3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超額報酬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-1.94%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策略 vs 等權持有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000000"/>
                          </a:solidFill>
                        </a:defRPr>
                      </a:pPr>
                      <a:r>
                        <a:t>Section 6.3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73152" cy="914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回測結果</a:t>
            </a:r>
          </a:p>
        </p:txBody>
      </p:sp>
      <p:pic>
        <p:nvPicPr>
          <p:cNvPr id="4" name="Picture 3" descr="backtest_grid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0584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表現最佳個股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  2615.TW +25.32%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  3653.TW +18.16%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  6415.TW +15.11%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  1590.TW +14.82%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73152" cy="10972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未來一周進度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200">
                <a:solidFill>
                  <a:srgbClr val="000000"/>
                </a:solidFill>
              </a:defRPr>
            </a:pPr>
            <a:r>
              <a:t>○  改進回測策略 (加入停損/停利機制)</a:t>
            </a:r>
          </a:p>
          <a:p>
            <a:pPr>
              <a:spcBef>
                <a:spcPts val="1200"/>
              </a:spcBef>
              <a:defRPr sz="2200">
                <a:solidFill>
                  <a:srgbClr val="000000"/>
                </a:solidFill>
              </a:defRPr>
            </a:pPr>
            <a:r>
              <a:t>○  嘗試增加 epochs 或調整 learning rate 提升模型表現</a:t>
            </a:r>
          </a:p>
          <a:p>
            <a:pPr>
              <a:spcBef>
                <a:spcPts val="1200"/>
              </a:spcBef>
              <a:defRPr sz="2200">
                <a:solidFill>
                  <a:srgbClr val="000000"/>
                </a:solidFill>
              </a:defRPr>
            </a:pPr>
            <a:r>
              <a:t>○  與主分支 (AE + OC-SVM) 整合討論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45920"/>
            <a:ext cx="73152" cy="41148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